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Symbolic math library based on data Flow and differential programming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More detailed and allows to have more detailed control to manipulate functions .. how to use and implement them.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Generic provides more functionalities with one command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HIGH Level: easy and less involved with the details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PyTorch: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seamless process to go from training to deployment by staying entirely within the pytorch ecosystem.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It provides end to end workflow makes it easy to go from research to production. 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/>
              <a:t>Privacy … federated learning techniques.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45"/>
            <a:ext cx="9144000" cy="2834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-9"/>
            <a:ext cx="9144000" cy="9579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474100" y="253776"/>
            <a:ext cx="1079175" cy="7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270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" name="Google Shape;33;p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/>
              <a:t>Deep Learning frameworks</a:t>
            </a:r>
            <a:endParaRPr/>
          </a:p>
        </p:txBody>
      </p:sp>
      <p:sp>
        <p:nvSpPr>
          <p:cNvPr id="48" name="Google Shape;48;p10"/>
          <p:cNvSpPr txBox="1"/>
          <p:nvPr/>
        </p:nvSpPr>
        <p:spPr>
          <a:xfrm>
            <a:off x="0" y="2836075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&#10;&#10;Description automatically generated" id="49" name="Google Shape;4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8" y="3623984"/>
            <a:ext cx="2860876" cy="14304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&#10;&#10;Description automatically generated" id="50" name="Google Shape;5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44441" y="3968875"/>
            <a:ext cx="2662177" cy="772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, company name&#10;&#10;Description automatically generated" id="51" name="Google Shape;51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0795" y="3699515"/>
            <a:ext cx="2621497" cy="1310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TensorFlow</a:t>
            </a:r>
            <a:endParaRPr/>
          </a:p>
        </p:txBody>
      </p:sp>
      <p:sp>
        <p:nvSpPr>
          <p:cNvPr id="57" name="Google Shape;57;p11"/>
          <p:cNvSpPr txBox="1"/>
          <p:nvPr>
            <p:ph idx="1" type="body"/>
          </p:nvPr>
        </p:nvSpPr>
        <p:spPr>
          <a:xfrm>
            <a:off x="5003772" y="1217130"/>
            <a:ext cx="4029391" cy="10180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066"/>
              <a:buChar char="●"/>
            </a:pPr>
            <a:r>
              <a:rPr lang="en-US"/>
              <a:t>Low level-software library created by Google to implement ML models and to solve complex numerical problems.</a:t>
            </a:r>
            <a:endParaRPr/>
          </a:p>
        </p:txBody>
      </p:sp>
      <p:pic>
        <p:nvPicPr>
          <p:cNvPr id="58" name="Google Shape;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491" y="1217130"/>
            <a:ext cx="4396509" cy="1158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agram&#10;&#10;Description automatically generated" id="59" name="Google Shape;5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490" y="2803635"/>
            <a:ext cx="3325091" cy="193963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1"/>
          <p:cNvSpPr txBox="1"/>
          <p:nvPr/>
        </p:nvSpPr>
        <p:spPr>
          <a:xfrm>
            <a:off x="4452925" y="2571749"/>
            <a:ext cx="4396500" cy="23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performs calculations by converting every element into graphical form. The variables of the graph are called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Tensors</a:t>
            </a:r>
            <a:r>
              <a:rPr b="0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and the mathematical operations are called </a:t>
            </a: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operators.</a:t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Tensors are IMMUTABLE.</a:t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Keras</a:t>
            </a:r>
            <a:endParaRPr/>
          </a:p>
        </p:txBody>
      </p:sp>
      <p:sp>
        <p:nvSpPr>
          <p:cNvPr id="66" name="Google Shape;66;p12"/>
          <p:cNvSpPr txBox="1"/>
          <p:nvPr>
            <p:ph idx="1" type="body"/>
          </p:nvPr>
        </p:nvSpPr>
        <p:spPr>
          <a:xfrm>
            <a:off x="4572000" y="1217122"/>
            <a:ext cx="4461300" cy="16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89"/>
              <a:buChar char="●"/>
            </a:pPr>
            <a:r>
              <a:rPr lang="en-US"/>
              <a:t>A high-level deep learning API written in Python for easy implementation and computation of neural networks. 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  <p:pic>
        <p:nvPicPr>
          <p:cNvPr id="67" name="Google Shape;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09" y="1905149"/>
            <a:ext cx="4330128" cy="160105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2"/>
          <p:cNvSpPr txBox="1"/>
          <p:nvPr/>
        </p:nvSpPr>
        <p:spPr>
          <a:xfrm>
            <a:off x="4461164" y="3176153"/>
            <a:ext cx="4396509" cy="167333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●"/>
            </a:pPr>
            <a:r>
              <a:rPr b="0" i="0" lang="en-US" sz="17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also integrates with various backend engines to help with fast computation while miniating ease of implementation.  </a:t>
            </a:r>
            <a:endParaRPr b="0" i="0" sz="1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PyTorch</a:t>
            </a:r>
            <a:endParaRPr/>
          </a:p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3962400" y="1490059"/>
            <a:ext cx="4869900" cy="33036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A low-level API developed by Facebook AI for Natural Language Processing and Computer Vision tasks. 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Think of a more powerful version of NumPy.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US"/>
              <a:t>Emphasizes flexibility and allows Deep Learning models to be expressed in basic Python.</a:t>
            </a:r>
            <a:endParaRPr/>
          </a:p>
        </p:txBody>
      </p:sp>
      <p:pic>
        <p:nvPicPr>
          <p:cNvPr descr="Logo, company name&#10;&#10;Description automatically generated" id="75" name="Google Shape;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328879"/>
            <a:ext cx="3363194" cy="1681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text, clipart, screenshot&#10;&#10;Description automatically generated" id="80" name="Google Shape;8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3445" y="1511040"/>
            <a:ext cx="6358082" cy="30128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60582"/>
            <a:ext cx="9144000" cy="418291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1. Level of API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2. Speed</a:t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32068"/>
            <a:ext cx="9144000" cy="42114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7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3. Architecture </a:t>
            </a:r>
            <a:endParaRPr/>
          </a:p>
        </p:txBody>
      </p:sp>
      <p:pic>
        <p:nvPicPr>
          <p:cNvPr id="98" name="Google Shape;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4856"/>
            <a:ext cx="9144000" cy="4218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4. Datasets and Debugging</a:t>
            </a:r>
            <a:endParaRPr/>
          </a:p>
        </p:txBody>
      </p:sp>
      <p:pic>
        <p:nvPicPr>
          <p:cNvPr id="104" name="Google Shape;10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4856"/>
            <a:ext cx="9144000" cy="4218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5. Ease of Development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4856"/>
            <a:ext cx="9144000" cy="4218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6. Ease of Deployment 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4856"/>
            <a:ext cx="9144000" cy="4218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216425"/>
            <a:ext cx="7812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pic>
        <p:nvPicPr>
          <p:cNvPr id="122" name="Google Shape;1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1851125"/>
            <a:ext cx="8135126" cy="101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>
            <a:off x="660325" y="2571750"/>
            <a:ext cx="261900" cy="3225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/>
          <p:nvPr/>
        </p:nvSpPr>
        <p:spPr>
          <a:xfrm>
            <a:off x="7633700" y="1764000"/>
            <a:ext cx="888900" cy="5109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" name="Google Shape;125;p21"/>
          <p:cNvCxnSpPr>
            <a:stCxn id="123" idx="6"/>
            <a:endCxn id="124" idx="2"/>
          </p:cNvCxnSpPr>
          <p:nvPr/>
        </p:nvCxnSpPr>
        <p:spPr>
          <a:xfrm flipH="1" rot="10800000">
            <a:off x="922225" y="2019600"/>
            <a:ext cx="6711600" cy="713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26" name="Google Shape;126;p21"/>
          <p:cNvCxnSpPr>
            <a:stCxn id="123" idx="4"/>
          </p:cNvCxnSpPr>
          <p:nvPr/>
        </p:nvCxnSpPr>
        <p:spPr>
          <a:xfrm flipH="1" rot="-5400000">
            <a:off x="1090975" y="2594550"/>
            <a:ext cx="192900" cy="792300"/>
          </a:xfrm>
          <a:prstGeom prst="bentConnector2">
            <a:avLst/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21"/>
          <p:cNvSpPr txBox="1"/>
          <p:nvPr/>
        </p:nvSpPr>
        <p:spPr>
          <a:xfrm>
            <a:off x="722325" y="3025025"/>
            <a:ext cx="119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1000" u="none" cap="none" strike="noStrike">
                <a:solidFill>
                  <a:srgbClr val="CC4125"/>
                </a:solidFill>
                <a:latin typeface="Georgia"/>
                <a:ea typeface="Georgia"/>
                <a:cs typeface="Georgia"/>
                <a:sym typeface="Georgia"/>
              </a:rPr>
              <a:t>Starting Point</a:t>
            </a:r>
            <a:endParaRPr b="1" i="1" sz="1000" u="none" cap="none" strike="noStrike">
              <a:solidFill>
                <a:srgbClr val="CC412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28" name="Google Shape;128;p21"/>
          <p:cNvCxnSpPr/>
          <p:nvPr/>
        </p:nvCxnSpPr>
        <p:spPr>
          <a:xfrm flipH="1" rot="10800000">
            <a:off x="7808725" y="1495175"/>
            <a:ext cx="693300" cy="296400"/>
          </a:xfrm>
          <a:prstGeom prst="bentConnector3">
            <a:avLst>
              <a:gd fmla="val 1594" name="adj1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9" name="Google Shape;129;p21"/>
          <p:cNvSpPr txBox="1"/>
          <p:nvPr/>
        </p:nvSpPr>
        <p:spPr>
          <a:xfrm>
            <a:off x="7757750" y="1246125"/>
            <a:ext cx="110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1000" u="none" cap="none" strike="noStrike">
                <a:solidFill>
                  <a:srgbClr val="CC4125"/>
                </a:solidFill>
                <a:latin typeface="Georgia"/>
                <a:ea typeface="Georgia"/>
                <a:cs typeface="Georgia"/>
                <a:sym typeface="Georgia"/>
              </a:rPr>
              <a:t>End  Point</a:t>
            </a:r>
            <a:endParaRPr b="1" i="1" sz="1000" u="none" cap="none" strike="noStrike">
              <a:solidFill>
                <a:srgbClr val="CC412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 rot="-401249">
            <a:off x="3941081" y="2028423"/>
            <a:ext cx="2022259" cy="33858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CC4125"/>
                </a:solidFill>
                <a:latin typeface="Georgia"/>
                <a:ea typeface="Georgia"/>
                <a:cs typeface="Georgia"/>
                <a:sym typeface="Georgia"/>
              </a:rPr>
              <a:t>– </a:t>
            </a:r>
            <a:r>
              <a:rPr b="1" i="1" lang="en-US" sz="1000" u="none" cap="none" strike="noStrike">
                <a:solidFill>
                  <a:srgbClr val="CC4125"/>
                </a:solidFill>
                <a:latin typeface="Georgia"/>
                <a:ea typeface="Georgia"/>
                <a:cs typeface="Georgia"/>
                <a:sym typeface="Georgia"/>
              </a:rPr>
              <a:t>Distance (D)</a:t>
            </a:r>
            <a:r>
              <a:rPr b="0" i="1" lang="en-US" sz="1000" u="none" cap="none" strike="noStrike">
                <a:solidFill>
                  <a:srgbClr val="CC4125"/>
                </a:solidFill>
                <a:latin typeface="Georgia"/>
                <a:ea typeface="Georgia"/>
                <a:cs typeface="Georgia"/>
                <a:sym typeface="Georgia"/>
              </a:rPr>
              <a:t> –</a:t>
            </a:r>
            <a:endParaRPr b="0" i="1" sz="1000" u="none" cap="none" strike="noStrike">
              <a:solidFill>
                <a:srgbClr val="CC412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31" name="Google Shape;131;p21"/>
          <p:cNvCxnSpPr/>
          <p:nvPr/>
        </p:nvCxnSpPr>
        <p:spPr>
          <a:xfrm flipH="1" rot="10800000">
            <a:off x="7793299" y="2150005"/>
            <a:ext cx="569700" cy="9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32" name="Google Shape;132;p21"/>
          <p:cNvCxnSpPr/>
          <p:nvPr/>
        </p:nvCxnSpPr>
        <p:spPr>
          <a:xfrm flipH="1">
            <a:off x="8267700" y="1736475"/>
            <a:ext cx="640800" cy="393000"/>
          </a:xfrm>
          <a:prstGeom prst="bentConnector3">
            <a:avLst>
              <a:gd fmla="val 98931" name="adj1"/>
            </a:avLst>
          </a:prstGeom>
          <a:noFill/>
          <a:ln cap="flat" cmpd="sng" w="1905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21"/>
          <p:cNvSpPr txBox="1"/>
          <p:nvPr/>
        </p:nvSpPr>
        <p:spPr>
          <a:xfrm>
            <a:off x="8130675" y="1474025"/>
            <a:ext cx="1105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1000" u="none" cap="none" strike="noStrike">
                <a:solidFill>
                  <a:srgbClr val="CC4125"/>
                </a:solidFill>
                <a:latin typeface="Georgia"/>
                <a:ea typeface="Georgia"/>
                <a:cs typeface="Georgia"/>
                <a:sym typeface="Georgia"/>
              </a:rPr>
              <a:t>Width (W)</a:t>
            </a:r>
            <a:endParaRPr b="1" i="1" sz="1000" u="none" cap="none" strike="noStrike">
              <a:solidFill>
                <a:srgbClr val="CC4125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uni.lu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